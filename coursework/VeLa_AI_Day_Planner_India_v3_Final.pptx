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914400"/>
            <a:ext cx="822960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1737360"/>
            <a:ext cx="91440" cy="365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2103120"/>
            <a:ext cx="822960" cy="8229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2926080"/>
            <a:ext cx="91440" cy="365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3291840"/>
            <a:ext cx="822960" cy="8229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4114800"/>
            <a:ext cx="91440" cy="365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4480560"/>
            <a:ext cx="822960" cy="8229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 AI Day Planner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Edition · v2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9260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vague idea to a perfect day — in 30 seconds.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029200" cy="502920"/>
          </a:xfrm>
          <a:prstGeom prst="rect">
            <a:avLst>
              <a:gd name="adj" fmla="val 14545"/>
            </a:avLst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930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Now with Anchor Planning  ·  Live Adaptive Replanning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navigation with conversational AI  ·  Anchor-Based Planning  ·  Real-Time Adaptive Replanning  ·  Constraint-Aware Routing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P R O B L E 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day out in India is unnecessarily painful.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lose 20–40 minutes before the fun even starts.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394960" cy="201168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39496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44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manually search each venue — chai spot, museum, park, restaurant — one by one, with no connective logic.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5394960" cy="201168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280160"/>
            <a:ext cx="5394960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44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Intelligence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84708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hours, crowd levels, and heat windows must be cross-checked on separate screens before committing.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5394960" cy="201168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66160"/>
            <a:ext cx="5394960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30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Routing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13308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favourites doesn't equal a sensible route. Users often realise mid-day they've built a backwards, traffic-heavy path.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3566160"/>
            <a:ext cx="5394960" cy="201168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3566160"/>
            <a:ext cx="5394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730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Go Stale Fast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413308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good static itinerary becomes obsolete the moment breakfast runs long or traffic spikes — forcing manual replanning.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minutes of planning friction for what should take 30 seconds.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 E R   S T O R 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Rohit, 31 — Primary Persona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Weekend Explorer  ·  Noida, Delhi NCR  ·  Android  ·  Spontaneous planner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6217920" cy="128016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12801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Sunday. I want breakfast, a park, something indoors for the afternoon heat, and dinner under ₹800 per person. But traffic changes everything — and every time I open Maps I have to start from scratch."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81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2560320" cy="141732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429000"/>
            <a:ext cx="256032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566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'breakfast Noida'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results. No context.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3081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55848" y="3429000"/>
            <a:ext cx="2560320" cy="141732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3429000"/>
            <a:ext cx="256032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3447288" y="3566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hours one by 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47288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tabs open. Still unsure.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08776" y="3081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08776" y="3429000"/>
            <a:ext cx="2560320" cy="141732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3429000"/>
            <a:ext cx="256032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6300216" y="3566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build a route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scattered. No sequence.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61704" y="3081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61704" y="3429000"/>
            <a:ext cx="2560320" cy="141732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61704" y="3429000"/>
            <a:ext cx="256032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6" name="Text 24"/>
          <p:cNvSpPr/>
          <p:nvPr/>
        </p:nvSpPr>
        <p:spPr>
          <a:xfrm>
            <a:off x="9153144" y="3566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up &amp; WhatsApps friends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53144" y="3977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Maps entirely.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463040"/>
            <a:ext cx="640080" cy="640080"/>
          </a:xfrm>
          <a:prstGeom prst="oval">
            <a:avLst/>
          </a:prstGeom>
          <a:solidFill>
            <a:srgbClr val="1A2236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75120" y="2176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Arjun, 38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· Family · Child-friendly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595360" y="1463040"/>
            <a:ext cx="640080" cy="640080"/>
          </a:xfrm>
          <a:prstGeom prst="oval">
            <a:avLst/>
          </a:prstGeom>
          <a:solidFill>
            <a:srgbClr val="1A2236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2480" y="2176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Kavya, 24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· Solo · Authentic local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332720" y="1463040"/>
            <a:ext cx="640080" cy="640080"/>
          </a:xfrm>
          <a:prstGeom prst="oval">
            <a:avLst/>
          </a:prstGeom>
          <a:solidFill>
            <a:srgbClr val="1A2236"/>
          </a:solidFill>
          <a:ln/>
        </p:spPr>
      </p:sp>
      <p:sp>
        <p:nvSpPr>
          <p:cNvPr id="37" name="Text 35"/>
          <p:cNvSpPr/>
          <p:nvPr/>
        </p:nvSpPr>
        <p:spPr>
          <a:xfrm>
            <a:off x="103327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49840" y="2176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27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· Date nights · Budget-conscious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Y   N O W 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finally caught up.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shifts make this possible today — not 3 years ago.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657600" cy="411480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3657600" cy="6400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LLMs on-device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trip requests can now be parsed with intent, budget, and mood understood — no structured filters needed. Computationally infeasible at scale before 2023.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657600" cy="411480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554480"/>
            <a:ext cx="3657600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8056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Places 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crowd &amp; hours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31089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Popular Times, live Business Hours, and traffic APIs now expose enough signal to make constraint-aware scheduling reliable at scale.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554480"/>
            <a:ext cx="3657600" cy="411480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554480"/>
            <a:ext cx="3657600" cy="6400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4124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Urban Surge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430M smartphone users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31089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430M+ smartphone users with Google Maps installed. Weekend day-trip culture in Tier 1/2 cities is growing 34% YoY.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S O L U T I O 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 AI Day Planner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layer that turns natural language into a smart, timed, routable itinerary — built for India.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" cy="1920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184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mood — 'lazy Sunday, chai + park + museum, dinner under ₹800'. No forms or filters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508760"/>
            <a:ext cx="54864" cy="192024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6184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62272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Anchor-Based Planning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62272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one anchor stop first. User confirms, then AI builds the rest. Reduces cold-start hesitation.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0876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508760"/>
            <a:ext cx="54864" cy="1920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16184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94192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Constraint Solver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94192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opening hours, crowd levels, heat index, travel time and budget to build the ideal sequence.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57600"/>
            <a:ext cx="54864" cy="192024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7673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Conflict Detection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" y="4480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you if a stop closes before you'd arrive and auto-adjusts the schedule to keep the day smooth.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65760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3657600"/>
            <a:ext cx="54864" cy="1920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37673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62272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Swapping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62272" y="4480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like a suggestion? Tap swap to see two AI-curated alternatives with ratings and reasons.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65760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3657600"/>
            <a:ext cx="54864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37673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94192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Replanning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4480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 AI engine detects delays &amp; traffic spikes. Recomputes and suggests the optimal stop reorder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T O T Y P E   ·   S C R E E N   1   ·   C O N V E R S A T I O N A L   I N P U 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66160" y="41148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566160" y="41148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1" name="Text 39"/>
          <p:cNvSpPr/>
          <p:nvPr/>
        </p:nvSpPr>
        <p:spPr>
          <a:xfrm>
            <a:off x="3694176" y="4480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Maps Chrome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94176" y="667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lives inside existing Maps UI — feels native, not bolted on.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6160" y="182880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566160" y="1828800"/>
            <a:ext cx="54864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5" name="Text 43"/>
          <p:cNvSpPr/>
          <p:nvPr/>
        </p:nvSpPr>
        <p:spPr>
          <a:xfrm>
            <a:off x="3694176" y="18653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94176" y="2084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 mood, budget, activity type and timing from plain text.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6160" y="324612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566160" y="3246120"/>
            <a:ext cx="54864" cy="77724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9" name="Text 47"/>
          <p:cNvSpPr/>
          <p:nvPr/>
        </p:nvSpPr>
        <p:spPr>
          <a:xfrm>
            <a:off x="3694176" y="32826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Quick-Tap Mood Chips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94176" y="3502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input for users who want to start fast without typing.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566160" y="466344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566160" y="4663440"/>
            <a:ext cx="54864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3" name="Text 51"/>
          <p:cNvSpPr/>
          <p:nvPr/>
        </p:nvSpPr>
        <p:spPr>
          <a:xfrm>
            <a:off x="3694176" y="47000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 It" CTA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94176" y="4919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tap triggers: NLP intent → Places match → constraint-aware route.</a:t>
            </a:r>
            <a:endParaRPr lang="en-US" sz="1000" dirty="0"/>
          </a:p>
        </p:txBody>
      </p:sp>
      <p:pic>
        <p:nvPicPr>
          <p:cNvPr id="55" name="Picture 54" descr="scree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92608"/>
            <a:ext cx="2816352" cy="6181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T O T Y P E   ·   S C R E E N   1 b   ·   A N C H O R - B A S E D   P L A N N I N G   ( N E W 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566160" y="91440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00C6FF"/>
          </a:solidFill>
          <a:ln/>
        </p:spPr>
      </p:sp>
      <p:sp>
        <p:nvSpPr>
          <p:cNvPr id="4" name="Text 2"/>
          <p:cNvSpPr/>
          <p:nvPr/>
        </p:nvSpPr>
        <p:spPr>
          <a:xfrm>
            <a:off x="3566160" y="91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56616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Anchor Planning?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356616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hesitate to commit to a full AI-generated day on the first try.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566160" y="1234440"/>
            <a:ext cx="3840480" cy="310896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566160" y="1234440"/>
            <a:ext cx="3840480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5" name="Text 53"/>
          <p:cNvSpPr/>
          <p:nvPr/>
        </p:nvSpPr>
        <p:spPr>
          <a:xfrm>
            <a:off x="370332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(Cold Start)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703320" y="1719072"/>
            <a:ext cx="164592" cy="164592"/>
          </a:xfrm>
          <a:prstGeom prst="oval">
            <a:avLst/>
          </a:prstGeom>
          <a:solidFill>
            <a:srgbClr val="EA4335"/>
          </a:solidFill>
          <a:ln/>
        </p:spPr>
      </p:sp>
      <p:sp>
        <p:nvSpPr>
          <p:cNvPr id="57" name="Text 55"/>
          <p:cNvSpPr/>
          <p:nvPr/>
        </p:nvSpPr>
        <p:spPr>
          <a:xfrm>
            <a:off x="3950208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dumps a full 4-stop plan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703320" y="2240280"/>
            <a:ext cx="164592" cy="164592"/>
          </a:xfrm>
          <a:prstGeom prst="oval">
            <a:avLst/>
          </a:prstGeom>
          <a:solidFill>
            <a:srgbClr val="EA4335"/>
          </a:solidFill>
          <a:ln/>
        </p:spPr>
      </p:sp>
      <p:sp>
        <p:nvSpPr>
          <p:cNvPr id="59" name="Text 57"/>
          <p:cNvSpPr/>
          <p:nvPr/>
        </p:nvSpPr>
        <p:spPr>
          <a:xfrm>
            <a:off x="3950208" y="22219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feels overwhelmed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703320" y="2761488"/>
            <a:ext cx="164592" cy="164592"/>
          </a:xfrm>
          <a:prstGeom prst="oval">
            <a:avLst/>
          </a:prstGeom>
          <a:solidFill>
            <a:srgbClr val="EA4335"/>
          </a:solidFill>
          <a:ln/>
        </p:spPr>
      </p:sp>
      <p:sp>
        <p:nvSpPr>
          <p:cNvPr id="61" name="Text 59"/>
          <p:cNvSpPr/>
          <p:nvPr/>
        </p:nvSpPr>
        <p:spPr>
          <a:xfrm>
            <a:off x="3950208" y="2743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hesitates — what if it's bad?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703320" y="3282696"/>
            <a:ext cx="164592" cy="164592"/>
          </a:xfrm>
          <a:prstGeom prst="oval">
            <a:avLst/>
          </a:prstGeom>
          <a:solidFill>
            <a:srgbClr val="EA4335"/>
          </a:solidFill>
          <a:ln/>
        </p:spPr>
      </p:sp>
      <p:sp>
        <p:nvSpPr>
          <p:cNvPr id="63" name="Text 61"/>
          <p:cNvSpPr/>
          <p:nvPr/>
        </p:nvSpPr>
        <p:spPr>
          <a:xfrm>
            <a:off x="3950208" y="3264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activation &amp; trust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680960" y="1234440"/>
            <a:ext cx="3840480" cy="310896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680960" y="1234440"/>
            <a:ext cx="3840480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6" name="Text 64"/>
          <p:cNvSpPr/>
          <p:nvPr/>
        </p:nvSpPr>
        <p:spPr>
          <a:xfrm>
            <a:off x="781812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(Anchor First)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818120" y="1719072"/>
            <a:ext cx="164592" cy="164592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68" name="Text 66"/>
          <p:cNvSpPr/>
          <p:nvPr/>
        </p:nvSpPr>
        <p:spPr>
          <a:xfrm>
            <a:off x="8065008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ONE anchor stop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818120" y="2240280"/>
            <a:ext cx="164592" cy="164592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70" name="Text 68"/>
          <p:cNvSpPr/>
          <p:nvPr/>
        </p:nvSpPr>
        <p:spPr>
          <a:xfrm>
            <a:off x="8065008" y="22219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 (low commitment)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818120" y="2761488"/>
            <a:ext cx="164592" cy="164592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72" name="Text 70"/>
          <p:cNvSpPr/>
          <p:nvPr/>
        </p:nvSpPr>
        <p:spPr>
          <a:xfrm>
            <a:off x="8065008" y="2743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then builds the rest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818120" y="3282696"/>
            <a:ext cx="164592" cy="164592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74" name="Text 72"/>
          <p:cNvSpPr/>
          <p:nvPr/>
        </p:nvSpPr>
        <p:spPr>
          <a:xfrm>
            <a:off x="8065008" y="3264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trust &amp; plan completion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566160" y="4526280"/>
            <a:ext cx="2743200" cy="12344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566160" y="4526280"/>
            <a:ext cx="274320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77" name="Text 75"/>
          <p:cNvSpPr/>
          <p:nvPr/>
        </p:nvSpPr>
        <p:spPr>
          <a:xfrm>
            <a:off x="370332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3000" dirty="0"/>
          </a:p>
        </p:txBody>
      </p:sp>
      <p:sp>
        <p:nvSpPr>
          <p:cNvPr id="78" name="Text 76"/>
          <p:cNvSpPr/>
          <p:nvPr/>
        </p:nvSpPr>
        <p:spPr>
          <a:xfrm>
            <a:off x="370332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Rate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3703320" y="5376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intimidating entry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446520" y="4526280"/>
            <a:ext cx="2743200" cy="12344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446520" y="4526280"/>
            <a:ext cx="274320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2" name="Text 80"/>
          <p:cNvSpPr/>
          <p:nvPr/>
        </p:nvSpPr>
        <p:spPr>
          <a:xfrm>
            <a:off x="658368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3000" dirty="0"/>
          </a:p>
        </p:txBody>
      </p:sp>
      <p:sp>
        <p:nvSpPr>
          <p:cNvPr id="83" name="Text 81"/>
          <p:cNvSpPr/>
          <p:nvPr/>
        </p:nvSpPr>
        <p:spPr>
          <a:xfrm>
            <a:off x="658368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Completion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6583680" y="5376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commitment via anchors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9326880" y="4526280"/>
            <a:ext cx="2743200" cy="12344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9326880" y="4526280"/>
            <a:ext cx="274320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7" name="Text 85"/>
          <p:cNvSpPr/>
          <p:nvPr/>
        </p:nvSpPr>
        <p:spPr>
          <a:xfrm>
            <a:off x="9464040" y="4617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3000" dirty="0"/>
          </a:p>
        </p:txBody>
      </p:sp>
      <p:sp>
        <p:nvSpPr>
          <p:cNvPr id="88" name="Text 86"/>
          <p:cNvSpPr/>
          <p:nvPr/>
        </p:nvSpPr>
        <p:spPr>
          <a:xfrm>
            <a:off x="946404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9464040" y="5376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validation</a:t>
            </a:r>
            <a:endParaRPr lang="en-US" sz="1000" dirty="0"/>
          </a:p>
        </p:txBody>
      </p:sp>
      <p:pic>
        <p:nvPicPr>
          <p:cNvPr id="90" name="Picture 89" descr="scree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92608"/>
            <a:ext cx="2816352" cy="6181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T O T Y P E   ·   S C R E E N   2   ·   A I   B U I L D I N G   Y O U R   D A 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66160" y="41148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66160" y="41148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2" name="Text 30"/>
          <p:cNvSpPr/>
          <p:nvPr/>
        </p:nvSpPr>
        <p:spPr>
          <a:xfrm>
            <a:off x="3694176" y="4480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Through Transparency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94176" y="667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loading screen isn't UX filler — it shows users the AI is doing real, intelligent work.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66160" y="182880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66160" y="1828800"/>
            <a:ext cx="54864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6" name="Text 34"/>
          <p:cNvSpPr/>
          <p:nvPr/>
        </p:nvSpPr>
        <p:spPr>
          <a:xfrm>
            <a:off x="3694176" y="18653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Top-Rated Spots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94176" y="2084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queries Google Places for highly-rated venues matching mood, category and budget.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66160" y="324612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66160" y="3246120"/>
            <a:ext cx="54864" cy="77724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0" name="Text 38"/>
          <p:cNvSpPr/>
          <p:nvPr/>
        </p:nvSpPr>
        <p:spPr>
          <a:xfrm>
            <a:off x="3694176" y="32826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Live Hours &amp; Crowds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94176" y="3502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Popular Times + Business Hours API ensures no stop is closed or overwhelmingly crowded.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66160" y="466344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566160" y="4663440"/>
            <a:ext cx="54864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4" name="Text 42"/>
          <p:cNvSpPr/>
          <p:nvPr/>
        </p:nvSpPr>
        <p:spPr>
          <a:xfrm>
            <a:off x="3694176" y="47000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Route Optimisation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94176" y="4919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TSP-style routing ensures stops flow geographically — no doubling back across Delhi's traffic.</a:t>
            </a:r>
            <a:endParaRPr lang="en-US" sz="1000" dirty="0"/>
          </a:p>
        </p:txBody>
      </p:sp>
      <p:pic>
        <p:nvPicPr>
          <p:cNvPr id="46" name="Picture 45" descr="scree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92608"/>
            <a:ext cx="2816352" cy="6181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T O T Y P E   ·   S C R E E N   3   ·   Y O U R   D A Y   I T I N E R A R Y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566160" y="41148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3566160" y="41148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3694176" y="4480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With Numbered Pins + Route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3694176" y="667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stops as numbered pins on a real route line — instant spatial orientation before scrolling.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566160" y="182880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8" name="Shape 116"/>
          <p:cNvSpPr/>
          <p:nvPr/>
        </p:nvSpPr>
        <p:spPr>
          <a:xfrm>
            <a:off x="3566160" y="1828800"/>
            <a:ext cx="54864" cy="777240"/>
          </a:xfrm>
          <a:prstGeom prst="rect">
            <a:avLst/>
          </a:prstGeom>
          <a:solidFill>
            <a:srgbClr val="00C6FF"/>
          </a:solidFill>
          <a:ln/>
        </p:spPr>
        <p:txBody>
          <a:bodyPr/>
          <a:p/>
        </p:txBody>
      </p:sp>
      <p:sp>
        <p:nvSpPr>
          <p:cNvPr id="119" name="Text 117"/>
          <p:cNvSpPr/>
          <p:nvPr/>
        </p:nvSpPr>
        <p:spPr>
          <a:xfrm>
            <a:off x="3694176" y="18653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Replanning Status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3694176" y="2084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AI monitoring banner at page bottom. Blue = active replanning. Tapping 'Simulate delay →' launches the full replan flow (Screen 6).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3566160" y="324612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2" name="Shape 120"/>
          <p:cNvSpPr/>
          <p:nvPr/>
        </p:nvSpPr>
        <p:spPr>
          <a:xfrm>
            <a:off x="3566160" y="3246120"/>
            <a:ext cx="54864" cy="777240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3694176" y="32826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Cards With AI Reasoning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3694176" y="3502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time slot, crowd indicator (green/amber/red), rating. ⚠ warning if conflict detected.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3566160" y="466344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6" name="Shape 124"/>
          <p:cNvSpPr/>
          <p:nvPr/>
        </p:nvSpPr>
        <p:spPr>
          <a:xfrm>
            <a:off x="3566160" y="4663440"/>
            <a:ext cx="54864" cy="77724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p/>
        </p:txBody>
      </p:sp>
      <p:sp>
        <p:nvSpPr>
          <p:cNvPr id="127" name="Text 125"/>
          <p:cNvSpPr/>
          <p:nvPr/>
        </p:nvSpPr>
        <p:spPr>
          <a:xfrm>
            <a:off x="3694176" y="47000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Replanning Banner (NEW)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3694176" y="4919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strip confirms adaptive AI is active. 'Simulate delay →' link triggers the replan flow.</a:t>
            </a:r>
            <a:endParaRPr lang="en-US" sz="1000" dirty="0"/>
          </a:p>
        </p:txBody>
      </p:sp>
      <p:pic>
        <p:nvPicPr>
          <p:cNvPr id="129" name="Picture 128" descr="screen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92608"/>
            <a:ext cx="2816352" cy="6181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T O T Y P E   ·   S C R E E N   4   ·   A I   C O N F L I C T   D E T E C T I O 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566160" y="41148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566160" y="411480"/>
            <a:ext cx="54864" cy="77724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9" name="Text 57"/>
          <p:cNvSpPr/>
          <p:nvPr/>
        </p:nvSpPr>
        <p:spPr>
          <a:xfrm>
            <a:off x="3694176" y="4480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Alert Strip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694176" y="667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blue 'on track' strip. Signals urgency. 'Tap to reorder' guides user to action.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566160" y="182880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566160" y="182880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3694176" y="18653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Pulsing Pin Animation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694176" y="2084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3 gets a pulsing amber ring — instantly draws attention to the conflicted stop on the map.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566160" y="324612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566160" y="3246120"/>
            <a:ext cx="54864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67" name="Text 65"/>
          <p:cNvSpPr/>
          <p:nvPr/>
        </p:nvSpPr>
        <p:spPr>
          <a:xfrm>
            <a:off x="3694176" y="32826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Detail Card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694176" y="3502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3 turns amber with a warning box showing exact closing time, your ETA and the risk level.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566160" y="466344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566160" y="466344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1" name="Text 69"/>
          <p:cNvSpPr/>
          <p:nvPr/>
        </p:nvSpPr>
        <p:spPr>
          <a:xfrm>
            <a:off x="3694176" y="47000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"Arrive Earlier" or "Swap" Actions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694176" y="4919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escape options. 'Arrive earlier' adjusts schedule in-place. 'Swap' opens AI-curated alternatives.</a:t>
            </a:r>
            <a:endParaRPr lang="en-US" sz="1000" dirty="0"/>
          </a:p>
        </p:txBody>
      </p:sp>
      <p:pic>
        <p:nvPicPr>
          <p:cNvPr id="73" name="Picture 72" descr="screen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92608"/>
            <a:ext cx="2816352" cy="61813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T O T Y P E   ·   S C R E E N   5   ·   O N E - T A P   S W A P   D R A W E 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66160" y="41148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66160" y="41148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0" name="Text 38"/>
          <p:cNvSpPr/>
          <p:nvPr/>
        </p:nvSpPr>
        <p:spPr>
          <a:xfrm>
            <a:off x="3694176" y="4480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Slides Up From Bottom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94176" y="667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(itinerary) stays visible but dimmed. Tapping the overlay closes the drawer.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66160" y="182880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566160" y="1828800"/>
            <a:ext cx="54864" cy="777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Text 42"/>
          <p:cNvSpPr/>
          <p:nvPr/>
        </p:nvSpPr>
        <p:spPr>
          <a:xfrm>
            <a:off x="3694176" y="18653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AI-Curated Alternatives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94176" y="2084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option filtered by proximity, crowd level, route efficiency, and budget — not just popularity.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66160" y="324612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566160" y="3246120"/>
            <a:ext cx="54864" cy="77724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8" name="Text 46"/>
          <p:cNvSpPr/>
          <p:nvPr/>
        </p:nvSpPr>
        <p:spPr>
          <a:xfrm>
            <a:off x="3694176" y="32826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Shown Per Option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94176" y="35021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natural language justification ('Nearby, uncrowded, great photos') builds trust in AI choice.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566160" y="4663440"/>
            <a:ext cx="8229600" cy="777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566160" y="4663440"/>
            <a:ext cx="54864" cy="777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2" name="Text 50"/>
          <p:cNvSpPr/>
          <p:nvPr/>
        </p:nvSpPr>
        <p:spPr>
          <a:xfrm>
            <a:off x="3694176" y="47000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Original Always Available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694176" y="4919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hatch prevents frustration — users feel in control even when the AI is suggesting changes.</a:t>
            </a:r>
            <a:endParaRPr lang="en-US" sz="1000" dirty="0"/>
          </a:p>
        </p:txBody>
      </p:sp>
      <p:pic>
        <p:nvPicPr>
          <p:cNvPr id="54" name="Picture 53" descr="screen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92608"/>
            <a:ext cx="2816352" cy="61813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T O T Y P E   ·   S C R E E N   6   ·   A D A P T I V E   R E P L A N N I N G   E N G I N E   ( N E W 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566160" y="91440"/>
            <a:ext cx="640080" cy="228600"/>
          </a:xfrm>
          <a:prstGeom prst="roundRect">
            <a:avLst>
              <a:gd name="adj" fmla="val 24000"/>
            </a:avLst>
          </a:prstGeom>
          <a:solidFill>
            <a:srgbClr val="00C6FF"/>
          </a:solidFill>
          <a:ln/>
        </p:spPr>
      </p:sp>
      <p:sp>
        <p:nvSpPr>
          <p:cNvPr id="4" name="Text 2"/>
          <p:cNvSpPr/>
          <p:nvPr/>
        </p:nvSpPr>
        <p:spPr>
          <a:xfrm>
            <a:off x="3566160" y="91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pic>
        <p:nvPicPr>
          <p:cNvPr id="113" name="Picture 112" descr="screen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92608"/>
            <a:ext cx="2651760" cy="5852160"/>
          </a:xfrm>
          <a:prstGeom prst="rect">
            <a:avLst/>
          </a:prstGeom>
        </p:spPr>
      </p:pic>
      <p:pic>
        <p:nvPicPr>
          <p:cNvPr id="114" name="Picture 113" descr="screen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92608"/>
            <a:ext cx="2651760" cy="585216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5852160" y="41148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Adaptive Replanning Engine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852160" y="84124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Mid-day AI detects delays, traffic spikes and venue conflicts — recomputes the optimal stop sequence.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852160" y="1325880"/>
            <a:ext cx="2971800" cy="150876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852160" y="1325880"/>
            <a:ext cx="45720" cy="15087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943600" y="1371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  Monitor Signals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943600" y="1618488"/>
            <a:ext cx="2834640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GPS, stop duration, traffic, venue hours, crowd levels — all tracked continuously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006840" y="1325880"/>
            <a:ext cx="2971800" cy="150876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006840" y="1325880"/>
            <a:ext cx="45720" cy="15087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098280" y="1371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  Trigger Recompute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98280" y="1618488"/>
            <a:ext cx="2834640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Delay &gt;20 min, ETA change &gt;15%, or venue closing within 60 min triggers the engine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852160" y="3063240"/>
            <a:ext cx="2971800" cy="150876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852160" y="3063240"/>
            <a:ext cx="45720" cy="1508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94360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  Generate New Plan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43600" y="3355848"/>
            <a:ext cx="2834640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Remaining stops + current time + live traffic + venue hours → new optimal sequence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006840" y="3063240"/>
            <a:ext cx="2971800" cy="150876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006840" y="3063240"/>
            <a:ext cx="45720" cy="1508760"/>
          </a:xfrm>
          <a:prstGeom prst="rect">
            <a:avLst/>
          </a:prstGeom>
          <a:solidFill>
            <a:srgbClr val="46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9828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4  User Notification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98280" y="3355848"/>
            <a:ext cx="2834640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Small banner: 'Your schedule shifted. Visit Museum first?' — one tap to apply or keep.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852160" y="4736592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B4D8"/>
                </a:solidFill>
              </a:rPr>
              <a:t>+15–20%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852160" y="52303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CRD+ Completion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52360" y="4736592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D6A0"/>
                </a:solidFill>
              </a:rPr>
              <a:t>High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52360" y="52303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User Trust Score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736592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BF00"/>
                </a:solidFill>
              </a:rPr>
              <a:t>Longer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52560" y="52303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Session Duration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652760" y="4736592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</a:rPr>
              <a:t>More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652760" y="523036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Booking Conversions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852160" y="562356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6688AA"/>
                </a:solidFill>
              </a:rPr>
              <a:t>📱 Prototype Flow: Screen 3 (initial) → Screen 4 (conflict on Museum) → Screen 5 (user swaps Museum for Nehru Park) → Screen 6 (delay simulation triggers AI replan — suggests restoring National Museum at 1:30 PM for better timing &amp; lower crowds).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Y   A I   ·   N O T   J U S T   A   B U Z Z W O R 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hard work that humans can't.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34747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11430000" cy="502920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venues matching mood &amp; budget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min manual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9244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NLP + Places API match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11430000" cy="502920"/>
          </a:xfrm>
          <a:prstGeom prst="rect">
            <a:avLst/>
          </a:prstGeom>
          <a:solidFill>
            <a:srgbClr val="12192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87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opening hours for all stops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487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 each place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2440" y="2487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Auto-checked in real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11430000" cy="502920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crowds &amp; peak wait times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or skip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9244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Popular Times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9584"/>
            <a:ext cx="11430000" cy="502920"/>
          </a:xfrm>
          <a:prstGeom prst="rect">
            <a:avLst/>
          </a:prstGeom>
          <a:solidFill>
            <a:srgbClr val="12192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21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efficient route across Delhi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3621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mapping / trial &amp; error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3621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TSP routing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1430000" cy="502920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187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closing-time conflicts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4187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missed entirely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4187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warning banner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11430000" cy="502920"/>
          </a:xfrm>
          <a:prstGeom prst="rect">
            <a:avLst/>
          </a:prstGeom>
          <a:solidFill>
            <a:srgbClr val="12192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75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stop mid-day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475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over from scratch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92440" y="475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AI-curated swap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230368"/>
            <a:ext cx="11430000" cy="502920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5321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delays &amp; traffic spikes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0" y="5321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manually every time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92440" y="5321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Replanning Engine ✨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D U C T   D E P T H   ·   E D G E   C A S E S   &amp;   E R R O R   S T A T E 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is part of the experience.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product anticipates what can go wrong — and handles it without breaking trust.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54864" cy="19202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Constraints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Budget ₹200 per person — no viable dinner options found.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560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Response: AI explains: 'We found options up to ₹350. Want to adjust your budget?'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554480"/>
            <a:ext cx="54864" cy="192024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Venues Closed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62272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User plans on a national holiday — most museums are closed.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62272" y="2560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Response: AI surfaces upfront: 'Most indoor venues are closed today. Showing parks + outdoor options.'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554480"/>
            <a:ext cx="54864" cy="1920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Network / Offline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User loses data mid-trip between stops.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94192" y="2560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Response: Cached itinerary available offline. Navigation continues with last-known directions.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57600"/>
            <a:ext cx="54864" cy="19202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Vague Input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User types: 'I want to have fun today'.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4663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Response: AI asks one clarifying question: 'Active outdoor, cultural, or food-focused?'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65760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3657600"/>
            <a:ext cx="54864" cy="192024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 Refused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62272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User taps 'Keep original' after AI suggests reorder.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62272" y="4663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Response: AI respects choice. Continues monitoring silently. Re-prompts only if conflict worsens.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0" y="3657600"/>
            <a:ext cx="3657600" cy="192024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3657600"/>
            <a:ext cx="54864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Alternatives Bad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94192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User taps swap — but all nearby alternatives are crowded or closed.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94192" y="4663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Response: AI shows message: 'No better alternatives right now. Try after 3 PM or expand the area.'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M P E T I T I V E   L A N D S C A P E   ·   W H Y   G O O G L E   W I N 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Google can execute — not just suggest.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0" y="1051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 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19088" y="1051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17536" y="1051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015984" y="1051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14432" y="1051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11430000" cy="475488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270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telemetry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527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1527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17536" y="1527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15984" y="1527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4432" y="1527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938528"/>
            <a:ext cx="11430000" cy="475488"/>
          </a:xfrm>
          <a:prstGeom prst="rect">
            <a:avLst/>
          </a:prstGeom>
          <a:solidFill>
            <a:srgbClr val="12192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0482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business hours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048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2048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17536" y="2048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15984" y="2048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14432" y="20482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459736"/>
            <a:ext cx="11430000" cy="475488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5694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Times crowd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569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2569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17536" y="2569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15984" y="2569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314432" y="2569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2980944"/>
            <a:ext cx="11430000" cy="475488"/>
          </a:xfrm>
          <a:prstGeom prst="rect">
            <a:avLst/>
          </a:prstGeom>
          <a:solidFill>
            <a:srgbClr val="12192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0906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Multi-stop route optimisation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309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19088" y="309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17536" y="309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15984" y="309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314432" y="309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502152"/>
            <a:ext cx="11430000" cy="475488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611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filter (INR)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3611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19088" y="3611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17536" y="3611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15984" y="3611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314432" y="3611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023360"/>
            <a:ext cx="11430000" cy="475488"/>
          </a:xfrm>
          <a:prstGeom prst="rect">
            <a:avLst/>
          </a:prstGeom>
          <a:solidFill>
            <a:srgbClr val="12192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1330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default distribution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4133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19088" y="4133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17536" y="4133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015984" y="4133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314432" y="4133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4544568"/>
            <a:ext cx="11430000" cy="475488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6542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integration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20640" y="46542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19088" y="46542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717536" y="46542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015984" y="46542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314432" y="46542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65760" y="5065776"/>
            <a:ext cx="11430000" cy="475488"/>
          </a:xfrm>
          <a:prstGeom prst="rect">
            <a:avLst/>
          </a:prstGeom>
          <a:solidFill>
            <a:srgbClr val="12192A"/>
          </a:solidFill>
          <a:ln/>
        </p:spPr>
      </p:sp>
      <p:sp>
        <p:nvSpPr>
          <p:cNvPr id="61" name="Shape 59"/>
          <p:cNvSpPr/>
          <p:nvPr/>
        </p:nvSpPr>
        <p:spPr>
          <a:xfrm>
            <a:off x="365760" y="5065776"/>
            <a:ext cx="54864" cy="475488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5175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 adaptive replanning ✨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120640" y="51755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19088" y="51755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717536" y="51755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015984" y="51755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0314432" y="51755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moat is structural — no competitor combines live traffic + verified hours + crowd data + adaptive replanning + booking + Android distribution in a single product.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 P A C T   ·   M E T R I C S   &amp;   B U S I N E S S   C A S 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Completed Real-World Days (CRD+)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CRD+ = user navigated to ≥60% of planned stops + no unresolved conflicts + post-day rating ≥4/5.  Target: 25% within 90 days of GA.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657600" cy="114300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36576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depth vs. baseline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170432"/>
            <a:ext cx="3657600" cy="114300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170432"/>
            <a:ext cx="3657600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2618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80560" y="1847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saves vs. manual search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170432"/>
            <a:ext cx="3657600" cy="1143000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170432"/>
            <a:ext cx="3657600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2618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₹1,394 Cr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412480" y="1847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revenue Year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487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 — must not regress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852928"/>
            <a:ext cx="5029200" cy="987552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" y="3255264"/>
            <a:ext cx="182880" cy="182880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035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volume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401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 decline vs. control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13632"/>
            <a:ext cx="5029200" cy="987552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" y="4315968"/>
            <a:ext cx="182880" cy="182880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096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accuracy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deviation from baseline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974336"/>
            <a:ext cx="5029200" cy="987552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" y="5376672"/>
            <a:ext cx="182880" cy="182880"/>
          </a:xfrm>
          <a:prstGeom prst="oval">
            <a:avLst/>
          </a:prstGeom>
          <a:solidFill>
            <a:srgbClr val="3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1572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revenue/session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" y="5522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regression (feature adds sessions)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Phases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23560" y="2852928"/>
            <a:ext cx="3200400" cy="987552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41848" y="3200400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1A73E8"/>
          </a:solidFill>
          <a:ln/>
        </p:spPr>
      </p:sp>
      <p:sp>
        <p:nvSpPr>
          <p:cNvPr id="33" name="Text 31"/>
          <p:cNvSpPr/>
          <p:nvPr/>
        </p:nvSpPr>
        <p:spPr>
          <a:xfrm>
            <a:off x="5641848" y="3200400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08192" y="30358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activity booking commissions (₹120 / ₹80 avg)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3913632"/>
            <a:ext cx="3200400" cy="987552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41848" y="4261104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37" name="Text 35"/>
          <p:cNvSpPr/>
          <p:nvPr/>
        </p:nvSpPr>
        <p:spPr>
          <a:xfrm>
            <a:off x="5641848" y="4261104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08192" y="409651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swap placements (CPC/CPB) + Google One Premium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23560" y="4974336"/>
            <a:ext cx="3200400" cy="987552"/>
          </a:xfrm>
          <a:prstGeom prst="rect">
            <a:avLst/>
          </a:prstGeom>
          <a:solidFill>
            <a:srgbClr val="1A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41848" y="5321808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BBC04"/>
          </a:solidFill>
          <a:ln/>
        </p:spPr>
      </p:sp>
      <p:sp>
        <p:nvSpPr>
          <p:cNvPr id="41" name="Text 39"/>
          <p:cNvSpPr/>
          <p:nvPr/>
        </p:nvSpPr>
        <p:spPr>
          <a:xfrm>
            <a:off x="5641848" y="5321808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08192" y="515721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UPI-integrated bookings + B2B data intelligence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52560" y="2487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052560" y="2852928"/>
            <a:ext cx="3017520" cy="731520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45" name="Shape 43"/>
          <p:cNvSpPr/>
          <p:nvPr/>
        </p:nvSpPr>
        <p:spPr>
          <a:xfrm>
            <a:off x="9070848" y="3108960"/>
            <a:ext cx="301752" cy="22860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/>
        </p:spPr>
      </p:sp>
      <p:sp>
        <p:nvSpPr>
          <p:cNvPr id="46" name="Text 44"/>
          <p:cNvSpPr/>
          <p:nvPr/>
        </p:nvSpPr>
        <p:spPr>
          <a:xfrm>
            <a:off x="9070848" y="3108960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436608" y="30358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research, NLU eval, anchor UX testing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052560" y="3657600"/>
            <a:ext cx="3017520" cy="731520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49" name="Shape 47"/>
          <p:cNvSpPr/>
          <p:nvPr/>
        </p:nvSpPr>
        <p:spPr>
          <a:xfrm>
            <a:off x="9070848" y="3913632"/>
            <a:ext cx="301752" cy="22860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/>
        </p:spPr>
      </p:sp>
      <p:sp>
        <p:nvSpPr>
          <p:cNvPr id="50" name="Text 48"/>
          <p:cNvSpPr/>
          <p:nvPr/>
        </p:nvSpPr>
        <p:spPr>
          <a:xfrm>
            <a:off x="9070848" y="3913632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436608" y="38404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+ 5% A/B test Delhi (all 6 screens)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052560" y="4462272"/>
            <a:ext cx="3017520" cy="731520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53" name="Shape 51"/>
          <p:cNvSpPr/>
          <p:nvPr/>
        </p:nvSpPr>
        <p:spPr>
          <a:xfrm>
            <a:off x="9070848" y="4718304"/>
            <a:ext cx="301752" cy="22860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/>
        </p:spPr>
      </p:sp>
      <p:sp>
        <p:nvSpPr>
          <p:cNvPr id="54" name="Text 52"/>
          <p:cNvSpPr/>
          <p:nvPr/>
        </p:nvSpPr>
        <p:spPr>
          <a:xfrm>
            <a:off x="9070848" y="4718304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436608" y="4645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beta: 3 cities + adaptive replan live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052560" y="5266944"/>
            <a:ext cx="3017520" cy="731520"/>
          </a:xfrm>
          <a:prstGeom prst="rect">
            <a:avLst/>
          </a:prstGeom>
          <a:solidFill>
            <a:srgbClr val="1A2236"/>
          </a:solidFill>
          <a:ln/>
        </p:spPr>
      </p:sp>
      <p:sp>
        <p:nvSpPr>
          <p:cNvPr id="57" name="Shape 55"/>
          <p:cNvSpPr/>
          <p:nvPr/>
        </p:nvSpPr>
        <p:spPr>
          <a:xfrm>
            <a:off x="9070848" y="5522976"/>
            <a:ext cx="301752" cy="22860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/>
        </p:spPr>
      </p:sp>
      <p:sp>
        <p:nvSpPr>
          <p:cNvPr id="58" name="Text 56"/>
          <p:cNvSpPr/>
          <p:nvPr/>
        </p:nvSpPr>
        <p:spPr>
          <a:xfrm>
            <a:off x="9070848" y="5522976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436608" y="54498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+ monetisation + anchor mode rollout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1188720"/>
            <a:ext cx="822960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2011680"/>
            <a:ext cx="9144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2423160"/>
            <a:ext cx="822960" cy="8229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3246120"/>
            <a:ext cx="9144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3657600"/>
            <a:ext cx="822960" cy="8229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4480560"/>
            <a:ext cx="9144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4892040"/>
            <a:ext cx="822960" cy="8229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clear.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is ready.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waiting.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548640" y="3090672"/>
            <a:ext cx="36576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1868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430M+ Google Maps users in India deserve a day planning experience that thinks with them — not just for them.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1A73E8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Input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4023360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00C6FF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40233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Planning 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4023360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1A73E8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0233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Conflict Detection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4023360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1A73E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0233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Swap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0" y="4023360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00C6FF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0" y="40233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Replanning 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 AI Day Planner  ·  India Edition  ·  v2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NLP Intent Parsing  ·  Google Places API  ·  Popular Times  ·  TSP Route Optimisation  ·  Live Traffic Telemetry  ·  Anchor-Based UX  ·  Adaptive Replanning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2026-03-09T09:25:51Z</dcterms:created>
  <dcterms:modified xsi:type="dcterms:W3CDTF">2026-03-09T09:25:51Z</dcterms:modified>
</cp:coreProperties>
</file>